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elegraf Bold" charset="1" panose="00000800000000000000"/>
      <p:regular r:id="rId24"/>
    </p:embeddedFont>
    <p:embeddedFont>
      <p:font typeface="Telegraf" charset="1" panose="00000500000000000000"/>
      <p:regular r:id="rId25"/>
    </p:embeddedFont>
    <p:embeddedFont>
      <p:font typeface="Telegraf Extra-Light" charset="1" panose="00000300000000000000"/>
      <p:regular r:id="rId26"/>
    </p:embeddedFont>
    <p:embeddedFont>
      <p:font typeface="Handelson Two" charset="1" panose="00000100000000000000"/>
      <p:regular r:id="rId27"/>
    </p:embeddedFont>
    <p:embeddedFont>
      <p:font typeface="Roboto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9549918" y="6449882"/>
            <a:ext cx="11643516" cy="5127140"/>
          </a:xfrm>
          <a:custGeom>
            <a:avLst/>
            <a:gdLst/>
            <a:ahLst/>
            <a:cxnLst/>
            <a:rect r="r" b="b" t="t" l="l"/>
            <a:pathLst>
              <a:path h="5127140" w="11643516">
                <a:moveTo>
                  <a:pt x="0" y="0"/>
                </a:moveTo>
                <a:lnTo>
                  <a:pt x="11643515" y="0"/>
                </a:lnTo>
                <a:lnTo>
                  <a:pt x="11643515" y="5127140"/>
                </a:lnTo>
                <a:lnTo>
                  <a:pt x="0" y="5127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57" t="0" r="-195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1006398" y="-938696"/>
            <a:ext cx="8130463" cy="3934791"/>
          </a:xfrm>
          <a:custGeom>
            <a:avLst/>
            <a:gdLst/>
            <a:ahLst/>
            <a:cxnLst/>
            <a:rect r="r" b="b" t="t" l="l"/>
            <a:pathLst>
              <a:path h="3934791" w="8130463">
                <a:moveTo>
                  <a:pt x="0" y="3934792"/>
                </a:moveTo>
                <a:lnTo>
                  <a:pt x="8130463" y="3934792"/>
                </a:lnTo>
                <a:lnTo>
                  <a:pt x="8130463" y="0"/>
                </a:lnTo>
                <a:lnTo>
                  <a:pt x="0" y="0"/>
                </a:lnTo>
                <a:lnTo>
                  <a:pt x="0" y="3934792"/>
                </a:lnTo>
                <a:close/>
              </a:path>
            </a:pathLst>
          </a:custGeom>
          <a:blipFill>
            <a:blip r:embed="rId3"/>
            <a:stretch>
              <a:fillRect l="-765" t="0" r="-765" b="-2561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214" y="2683311"/>
            <a:ext cx="16981086" cy="51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3"/>
              </a:lnSpc>
            </a:pPr>
            <a:r>
              <a:rPr lang="en-US" b="true" sz="10245" spc="512">
                <a:solidFill>
                  <a:srgbClr val="164B82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TRACEFINDER</a:t>
            </a:r>
          </a:p>
          <a:p>
            <a:pPr algn="l">
              <a:lnSpc>
                <a:spcPts val="8533"/>
              </a:lnSpc>
            </a:pPr>
            <a:r>
              <a:rPr lang="en-US" b="true" sz="6095" spc="304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FORENSIC SCANNER IDENTIFICATION</a:t>
            </a:r>
          </a:p>
          <a:p>
            <a:pPr algn="l">
              <a:lnSpc>
                <a:spcPts val="18002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89856" y="161536"/>
            <a:ext cx="4498144" cy="2826575"/>
          </a:xfrm>
          <a:custGeom>
            <a:avLst/>
            <a:gdLst/>
            <a:ahLst/>
            <a:cxnLst/>
            <a:rect r="r" b="b" t="t" l="l"/>
            <a:pathLst>
              <a:path h="2826575" w="4498144">
                <a:moveTo>
                  <a:pt x="0" y="0"/>
                </a:moveTo>
                <a:lnTo>
                  <a:pt x="4498144" y="0"/>
                </a:lnTo>
                <a:lnTo>
                  <a:pt x="4498144" y="2826575"/>
                </a:lnTo>
                <a:lnTo>
                  <a:pt x="0" y="2826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36" t="-7905" r="-5951" b="-456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8214" y="7758952"/>
            <a:ext cx="5561240" cy="131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5"/>
              </a:lnSpc>
            </a:pPr>
            <a:r>
              <a:rPr lang="en-US" sz="3710" spc="18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 </a:t>
            </a:r>
          </a:p>
          <a:p>
            <a:pPr algn="l">
              <a:lnSpc>
                <a:spcPts val="5195"/>
              </a:lnSpc>
              <a:spcBef>
                <a:spcPct val="0"/>
              </a:spcBef>
            </a:pPr>
            <a:r>
              <a:rPr lang="en-US" sz="3710" spc="18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Mentor Revanth 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10037"/>
            <a:ext cx="18288000" cy="10702494"/>
            <a:chOff x="0" y="0"/>
            <a:chExt cx="4816593" cy="28187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818764"/>
            </a:xfrm>
            <a:custGeom>
              <a:avLst/>
              <a:gdLst/>
              <a:ahLst/>
              <a:cxnLst/>
              <a:rect r="r" b="b" t="t" l="l"/>
              <a:pathLst>
                <a:path h="28187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818764"/>
                  </a:lnTo>
                  <a:lnTo>
                    <a:pt x="0" y="2818764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866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3328" y="1482985"/>
            <a:ext cx="1239604" cy="1239604"/>
          </a:xfrm>
          <a:custGeom>
            <a:avLst/>
            <a:gdLst/>
            <a:ahLst/>
            <a:cxnLst/>
            <a:rect r="r" b="b" t="t" l="l"/>
            <a:pathLst>
              <a:path h="1239604" w="1239604">
                <a:moveTo>
                  <a:pt x="0" y="0"/>
                </a:moveTo>
                <a:lnTo>
                  <a:pt x="1239604" y="0"/>
                </a:lnTo>
                <a:lnTo>
                  <a:pt x="1239604" y="1239605"/>
                </a:lnTo>
                <a:lnTo>
                  <a:pt x="0" y="1239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3328" y="3104478"/>
            <a:ext cx="1246729" cy="1452281"/>
          </a:xfrm>
          <a:custGeom>
            <a:avLst/>
            <a:gdLst/>
            <a:ahLst/>
            <a:cxnLst/>
            <a:rect r="r" b="b" t="t" l="l"/>
            <a:pathLst>
              <a:path h="1452281" w="1246729">
                <a:moveTo>
                  <a:pt x="0" y="0"/>
                </a:moveTo>
                <a:lnTo>
                  <a:pt x="1246729" y="0"/>
                </a:lnTo>
                <a:lnTo>
                  <a:pt x="1246729" y="1452281"/>
                </a:lnTo>
                <a:lnTo>
                  <a:pt x="0" y="1452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3501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8701" y="4736044"/>
            <a:ext cx="1244231" cy="1230407"/>
          </a:xfrm>
          <a:custGeom>
            <a:avLst/>
            <a:gdLst/>
            <a:ahLst/>
            <a:cxnLst/>
            <a:rect r="r" b="b" t="t" l="l"/>
            <a:pathLst>
              <a:path h="1230407" w="1244231">
                <a:moveTo>
                  <a:pt x="0" y="0"/>
                </a:moveTo>
                <a:lnTo>
                  <a:pt x="1244231" y="0"/>
                </a:lnTo>
                <a:lnTo>
                  <a:pt x="1244231" y="1230406"/>
                </a:lnTo>
                <a:lnTo>
                  <a:pt x="0" y="1230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7145" y="6347450"/>
            <a:ext cx="1391970" cy="1323257"/>
          </a:xfrm>
          <a:custGeom>
            <a:avLst/>
            <a:gdLst/>
            <a:ahLst/>
            <a:cxnLst/>
            <a:rect r="r" b="b" t="t" l="l"/>
            <a:pathLst>
              <a:path h="1323257" w="1391970">
                <a:moveTo>
                  <a:pt x="0" y="0"/>
                </a:moveTo>
                <a:lnTo>
                  <a:pt x="1391970" y="0"/>
                </a:lnTo>
                <a:lnTo>
                  <a:pt x="1391970" y="1323257"/>
                </a:lnTo>
                <a:lnTo>
                  <a:pt x="0" y="1323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3182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8908" y="8131852"/>
            <a:ext cx="1520206" cy="1428073"/>
          </a:xfrm>
          <a:custGeom>
            <a:avLst/>
            <a:gdLst/>
            <a:ahLst/>
            <a:cxnLst/>
            <a:rect r="r" b="b" t="t" l="l"/>
            <a:pathLst>
              <a:path h="1428073" w="1520206">
                <a:moveTo>
                  <a:pt x="0" y="0"/>
                </a:moveTo>
                <a:lnTo>
                  <a:pt x="1520207" y="0"/>
                </a:lnTo>
                <a:lnTo>
                  <a:pt x="1520207" y="1428073"/>
                </a:lnTo>
                <a:lnTo>
                  <a:pt x="0" y="1428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482985"/>
            <a:ext cx="1208782" cy="1239604"/>
          </a:xfrm>
          <a:custGeom>
            <a:avLst/>
            <a:gdLst/>
            <a:ahLst/>
            <a:cxnLst/>
            <a:rect r="r" b="b" t="t" l="l"/>
            <a:pathLst>
              <a:path h="1239604" w="1208782">
                <a:moveTo>
                  <a:pt x="0" y="0"/>
                </a:moveTo>
                <a:lnTo>
                  <a:pt x="1208782" y="0"/>
                </a:lnTo>
                <a:lnTo>
                  <a:pt x="1208782" y="1239605"/>
                </a:lnTo>
                <a:lnTo>
                  <a:pt x="0" y="12396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54598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3104478"/>
            <a:ext cx="1342524" cy="1337676"/>
          </a:xfrm>
          <a:custGeom>
            <a:avLst/>
            <a:gdLst/>
            <a:ahLst/>
            <a:cxnLst/>
            <a:rect r="r" b="b" t="t" l="l"/>
            <a:pathLst>
              <a:path h="1337676" w="1342524">
                <a:moveTo>
                  <a:pt x="0" y="0"/>
                </a:moveTo>
                <a:lnTo>
                  <a:pt x="1342524" y="0"/>
                </a:lnTo>
                <a:lnTo>
                  <a:pt x="1342524" y="1337676"/>
                </a:lnTo>
                <a:lnTo>
                  <a:pt x="0" y="13376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7459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4621439"/>
            <a:ext cx="1328999" cy="1345011"/>
          </a:xfrm>
          <a:custGeom>
            <a:avLst/>
            <a:gdLst/>
            <a:ahLst/>
            <a:cxnLst/>
            <a:rect r="r" b="b" t="t" l="l"/>
            <a:pathLst>
              <a:path h="1345011" w="1328999">
                <a:moveTo>
                  <a:pt x="0" y="0"/>
                </a:moveTo>
                <a:lnTo>
                  <a:pt x="1328999" y="0"/>
                </a:lnTo>
                <a:lnTo>
                  <a:pt x="1328999" y="1345011"/>
                </a:lnTo>
                <a:lnTo>
                  <a:pt x="0" y="13450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51273" y="6234040"/>
            <a:ext cx="1514452" cy="1633589"/>
          </a:xfrm>
          <a:custGeom>
            <a:avLst/>
            <a:gdLst/>
            <a:ahLst/>
            <a:cxnLst/>
            <a:rect r="r" b="b" t="t" l="l"/>
            <a:pathLst>
              <a:path h="1633589" w="1514452">
                <a:moveTo>
                  <a:pt x="0" y="0"/>
                </a:moveTo>
                <a:lnTo>
                  <a:pt x="1514453" y="0"/>
                </a:lnTo>
                <a:lnTo>
                  <a:pt x="1514453" y="1633590"/>
                </a:lnTo>
                <a:lnTo>
                  <a:pt x="0" y="16335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247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56330" y="8131852"/>
            <a:ext cx="1384122" cy="1652426"/>
          </a:xfrm>
          <a:custGeom>
            <a:avLst/>
            <a:gdLst/>
            <a:ahLst/>
            <a:cxnLst/>
            <a:rect r="r" b="b" t="t" l="l"/>
            <a:pathLst>
              <a:path h="1652426" w="1384122">
                <a:moveTo>
                  <a:pt x="0" y="0"/>
                </a:moveTo>
                <a:lnTo>
                  <a:pt x="1384122" y="0"/>
                </a:lnTo>
                <a:lnTo>
                  <a:pt x="1384122" y="1652426"/>
                </a:lnTo>
                <a:lnTo>
                  <a:pt x="0" y="16524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96" t="0" r="-179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52629" y="199532"/>
            <a:ext cx="11757894" cy="116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6"/>
              </a:lnSpc>
            </a:pPr>
            <a:r>
              <a:rPr lang="en-US" sz="8326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TABLE OF CONTENT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27722" y="1634792"/>
            <a:ext cx="4300637" cy="8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1880" y="3278659"/>
            <a:ext cx="5363790" cy="7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917385"/>
            <a:ext cx="5047858" cy="74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2"/>
              </a:lnSpc>
              <a:spcBef>
                <a:spcPct val="0"/>
              </a:spcBef>
            </a:pPr>
            <a:r>
              <a:rPr lang="en-US" sz="4087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9115" y="6468165"/>
            <a:ext cx="6469003" cy="7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SYSTEM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9226" y="8213632"/>
            <a:ext cx="7765191" cy="74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TECHNICAL STACK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69650" y="1644317"/>
            <a:ext cx="8022603" cy="7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DATA PREPROCESSING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2782" y="3262131"/>
            <a:ext cx="3610713" cy="74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  <a:spcBef>
                <a:spcPct val="0"/>
              </a:spcBef>
            </a:pPr>
            <a:r>
              <a:rPr lang="en-US" sz="4098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DATASETS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65726" y="4964892"/>
            <a:ext cx="7212052" cy="66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3703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EXPLORATORY DATA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5670" y="6583628"/>
            <a:ext cx="4497288" cy="7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UI &amp; DEPLOYMENT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18362" y="8263204"/>
            <a:ext cx="5592465" cy="7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CHALLENGES &amp; SCOPE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381907">
            <a:off x="-3522855" y="7614440"/>
            <a:ext cx="11759695" cy="4835088"/>
          </a:xfrm>
          <a:custGeom>
            <a:avLst/>
            <a:gdLst/>
            <a:ahLst/>
            <a:cxnLst/>
            <a:rect r="r" b="b" t="t" l="l"/>
            <a:pathLst>
              <a:path h="4835088" w="11759695">
                <a:moveTo>
                  <a:pt x="11759695" y="0"/>
                </a:moveTo>
                <a:lnTo>
                  <a:pt x="0" y="0"/>
                </a:lnTo>
                <a:lnTo>
                  <a:pt x="0" y="4835089"/>
                </a:lnTo>
                <a:lnTo>
                  <a:pt x="11759695" y="4835089"/>
                </a:lnTo>
                <a:lnTo>
                  <a:pt x="11759695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 l="0" t="-1531" r="0" b="-15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5040" y="422559"/>
            <a:ext cx="12731081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583" y="2012551"/>
            <a:ext cx="18089417" cy="741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4"/>
              </a:lnSpc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rapid growth of digital documentation has increased the risk of </a:t>
            </a:r>
          </a:p>
          <a:p>
            <a:pPr algn="l">
              <a:lnSpc>
                <a:spcPts val="5844"/>
              </a:lnSpc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document forgery, duplication, and unauthorized scanning.</a:t>
            </a:r>
          </a:p>
          <a:p>
            <a:pPr algn="just">
              <a:lnSpc>
                <a:spcPts val="5844"/>
              </a:lnSpc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</a:t>
            </a:r>
          </a:p>
          <a:p>
            <a:pPr algn="just">
              <a:lnSpc>
                <a:spcPts val="5844"/>
              </a:lnSpc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Every scanner device—regardless of its brand or model—introduces unique patterns, noise traces, and compression artifacts during the scanning process.</a:t>
            </a:r>
          </a:p>
          <a:p>
            <a:pPr algn="just">
              <a:lnSpc>
                <a:spcPts val="5844"/>
              </a:lnSpc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</a:t>
            </a:r>
          </a:p>
          <a:p>
            <a:pPr algn="l">
              <a:lnSpc>
                <a:spcPts val="5844"/>
              </a:lnSpc>
              <a:spcBef>
                <a:spcPct val="0"/>
              </a:spcBef>
            </a:pPr>
            <a:r>
              <a:rPr lang="en-US" sz="4174" spc="20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This technology plays a vital role in digital forensics, document authentication, legal verification, and fraud prevention.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3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0" y="-1059046"/>
            <a:ext cx="18376441" cy="3716115"/>
          </a:xfrm>
          <a:custGeom>
            <a:avLst/>
            <a:gdLst/>
            <a:ahLst/>
            <a:cxnLst/>
            <a:rect r="r" b="b" t="t" l="l"/>
            <a:pathLst>
              <a:path h="3716115" w="18376441">
                <a:moveTo>
                  <a:pt x="18376441" y="0"/>
                </a:moveTo>
                <a:lnTo>
                  <a:pt x="0" y="0"/>
                </a:lnTo>
                <a:lnTo>
                  <a:pt x="0" y="3716116"/>
                </a:lnTo>
                <a:lnTo>
                  <a:pt x="18376441" y="3716116"/>
                </a:lnTo>
                <a:lnTo>
                  <a:pt x="18376441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-102483" r="0" b="-7063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344804">
            <a:off x="7551002" y="8199153"/>
            <a:ext cx="11410238" cy="4835088"/>
          </a:xfrm>
          <a:custGeom>
            <a:avLst/>
            <a:gdLst/>
            <a:ahLst/>
            <a:cxnLst/>
            <a:rect r="r" b="b" t="t" l="l"/>
            <a:pathLst>
              <a:path h="4835088" w="11410238">
                <a:moveTo>
                  <a:pt x="11410239" y="0"/>
                </a:moveTo>
                <a:lnTo>
                  <a:pt x="0" y="0"/>
                </a:lnTo>
                <a:lnTo>
                  <a:pt x="0" y="4835089"/>
                </a:lnTo>
                <a:lnTo>
                  <a:pt x="11410239" y="4835089"/>
                </a:lnTo>
                <a:lnTo>
                  <a:pt x="11410239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74262" y="-4234337"/>
            <a:ext cx="20095468" cy="7401205"/>
          </a:xfrm>
          <a:custGeom>
            <a:avLst/>
            <a:gdLst/>
            <a:ahLst/>
            <a:cxnLst/>
            <a:rect r="r" b="b" t="t" l="l"/>
            <a:pathLst>
              <a:path h="7401205" w="20095468">
                <a:moveTo>
                  <a:pt x="0" y="0"/>
                </a:moveTo>
                <a:lnTo>
                  <a:pt x="20095467" y="0"/>
                </a:lnTo>
                <a:lnTo>
                  <a:pt x="20095467" y="7401205"/>
                </a:lnTo>
                <a:lnTo>
                  <a:pt x="0" y="740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-12296" r="0" b="-27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1199" y="6675196"/>
            <a:ext cx="10939223" cy="8081351"/>
          </a:xfrm>
          <a:custGeom>
            <a:avLst/>
            <a:gdLst/>
            <a:ahLst/>
            <a:cxnLst/>
            <a:rect r="r" b="b" t="t" l="l"/>
            <a:pathLst>
              <a:path h="8081351" w="10939223">
                <a:moveTo>
                  <a:pt x="0" y="0"/>
                </a:moveTo>
                <a:lnTo>
                  <a:pt x="10939223" y="0"/>
                </a:lnTo>
                <a:lnTo>
                  <a:pt x="10939223" y="8081351"/>
                </a:lnTo>
                <a:lnTo>
                  <a:pt x="0" y="808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6784" y="423443"/>
            <a:ext cx="15298802" cy="13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6"/>
              </a:lnSpc>
            </a:pPr>
            <a:r>
              <a:rPr lang="en-US" sz="9202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784" y="1905448"/>
            <a:ext cx="17586765" cy="86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  Digital documents are widely used in legal, corporate, and government environments. However, forged or manipulated scanned documents pose serious risks, including fraud, identity theft, and legal disputes. </a:t>
            </a:r>
          </a:p>
          <a:p>
            <a:pPr algn="l">
              <a:lnSpc>
                <a:spcPts val="5702"/>
              </a:lnSpc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  </a:t>
            </a: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Currently, there is no straightforward way to verify which scanner         produced a document, making it difficult to detect unauthorized or tampered scans.</a:t>
            </a:r>
          </a:p>
          <a:p>
            <a:pPr algn="l">
              <a:lnSpc>
                <a:spcPts val="5702"/>
              </a:lnSpc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There is a need for a system that can:</a:t>
            </a:r>
          </a:p>
          <a:p>
            <a:pPr algn="l" marL="879476" indent="-439738" lvl="1">
              <a:lnSpc>
                <a:spcPts val="5702"/>
              </a:lnSpc>
              <a:buFont typeface="Arial"/>
              <a:buChar char="•"/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Analyze scanner-specific signatures</a:t>
            </a:r>
          </a:p>
          <a:p>
            <a:pPr algn="l" marL="879476" indent="-439738" lvl="1">
              <a:lnSpc>
                <a:spcPts val="5702"/>
              </a:lnSpc>
              <a:buFont typeface="Arial"/>
              <a:buChar char="•"/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Classify which scanner created a given image</a:t>
            </a:r>
          </a:p>
          <a:p>
            <a:pPr algn="l" marL="879476" indent="-439738" lvl="1">
              <a:lnSpc>
                <a:spcPts val="5702"/>
              </a:lnSpc>
              <a:buFont typeface="Arial"/>
              <a:buChar char="•"/>
            </a:pPr>
            <a:r>
              <a:rPr lang="en-US" sz="4073" spc="9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Support forensic investigations and document verification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5613744">
            <a:off x="-4400382" y="-1835778"/>
            <a:ext cx="10858165" cy="2754603"/>
          </a:xfrm>
          <a:custGeom>
            <a:avLst/>
            <a:gdLst/>
            <a:ahLst/>
            <a:cxnLst/>
            <a:rect r="r" b="b" t="t" l="l"/>
            <a:pathLst>
              <a:path h="2754603" w="10858165">
                <a:moveTo>
                  <a:pt x="10858164" y="0"/>
                </a:moveTo>
                <a:lnTo>
                  <a:pt x="0" y="0"/>
                </a:lnTo>
                <a:lnTo>
                  <a:pt x="0" y="2754604"/>
                </a:lnTo>
                <a:lnTo>
                  <a:pt x="10858164" y="2754604"/>
                </a:lnTo>
                <a:lnTo>
                  <a:pt x="10858164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670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259" y="422559"/>
            <a:ext cx="9737167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071" y="1615791"/>
            <a:ext cx="17953858" cy="836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main objectives are: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1.</a:t>
            </a: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analyze scanner-specific noise, texture, and frequency-domain   patterns present in scanned images.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2. </a:t>
            </a: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train machine learning models (XGBoost, CNN, Hybrid) to classify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scanned images based on their source scanner.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3. </a:t>
            </a: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evaluate and compare model accuracy for reliable forensic identification.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4.</a:t>
            </a: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develop an interface or simple app to upload a scanned image and predict the originating scanner device.</a:t>
            </a:r>
          </a:p>
          <a:p>
            <a:pPr algn="l">
              <a:lnSpc>
                <a:spcPts val="5608"/>
              </a:lnSpc>
            </a:pP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   5.</a:t>
            </a:r>
            <a:r>
              <a:rPr lang="en-US" sz="4005" spc="96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support digital forensics, document authentication, and legal verification activities.</a:t>
            </a:r>
          </a:p>
          <a:p>
            <a:pPr algn="l">
              <a:lnSpc>
                <a:spcPts val="461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289957" y="-1964963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3"/>
                </a:lnTo>
                <a:lnTo>
                  <a:pt x="10441422" y="4424553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250927">
            <a:off x="5486162" y="7645079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0509494"/>
            <a:chOff x="0" y="0"/>
            <a:chExt cx="4816593" cy="2767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67933"/>
            </a:xfrm>
            <a:custGeom>
              <a:avLst/>
              <a:gdLst/>
              <a:ahLst/>
              <a:cxnLst/>
              <a:rect r="r" b="b" t="t" l="l"/>
              <a:pathLst>
                <a:path h="2767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67933"/>
                  </a:lnTo>
                  <a:lnTo>
                    <a:pt x="0" y="2767933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16593" cy="2825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61928" y="2400383"/>
            <a:ext cx="16660786" cy="6635758"/>
          </a:xfrm>
          <a:custGeom>
            <a:avLst/>
            <a:gdLst/>
            <a:ahLst/>
            <a:cxnLst/>
            <a:rect r="r" b="b" t="t" l="l"/>
            <a:pathLst>
              <a:path h="6635758" w="16660786">
                <a:moveTo>
                  <a:pt x="0" y="0"/>
                </a:moveTo>
                <a:lnTo>
                  <a:pt x="16660785" y="0"/>
                </a:lnTo>
                <a:lnTo>
                  <a:pt x="16660785" y="6635758"/>
                </a:lnTo>
                <a:lnTo>
                  <a:pt x="0" y="663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0" t="-3825" r="-325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459" y="646344"/>
            <a:ext cx="16838841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441457">
            <a:off x="-3848257" y="-544301"/>
            <a:ext cx="10858165" cy="4567747"/>
          </a:xfrm>
          <a:custGeom>
            <a:avLst/>
            <a:gdLst/>
            <a:ahLst/>
            <a:cxnLst/>
            <a:rect r="r" b="b" t="t" l="l"/>
            <a:pathLst>
              <a:path h="4567747" w="10858165">
                <a:moveTo>
                  <a:pt x="10858165" y="0"/>
                </a:moveTo>
                <a:lnTo>
                  <a:pt x="0" y="0"/>
                </a:lnTo>
                <a:lnTo>
                  <a:pt x="0" y="4567747"/>
                </a:lnTo>
                <a:lnTo>
                  <a:pt x="10858165" y="4567747"/>
                </a:lnTo>
                <a:lnTo>
                  <a:pt x="10858165" y="0"/>
                </a:lnTo>
                <a:close/>
              </a:path>
            </a:pathLst>
          </a:custGeom>
          <a:blipFill>
            <a:blip r:embed="rId2"/>
            <a:stretch>
              <a:fillRect l="0" t="0" r="0" b="-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9259" y="422559"/>
            <a:ext cx="12900021" cy="131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63036"/>
            <a:ext cx="3715724" cy="6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anguages: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9284" y="2941085"/>
            <a:ext cx="2857500" cy="1600200"/>
          </a:xfrm>
          <a:custGeom>
            <a:avLst/>
            <a:gdLst/>
            <a:ahLst/>
            <a:cxnLst/>
            <a:rect r="r" b="b" t="t" l="l"/>
            <a:pathLst>
              <a:path h="1600200" w="2857500">
                <a:moveTo>
                  <a:pt x="0" y="0"/>
                </a:moveTo>
                <a:lnTo>
                  <a:pt x="2857500" y="0"/>
                </a:lnTo>
                <a:lnTo>
                  <a:pt x="28575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44224" y="2941085"/>
            <a:ext cx="1600200" cy="1600200"/>
          </a:xfrm>
          <a:custGeom>
            <a:avLst/>
            <a:gdLst/>
            <a:ahLst/>
            <a:cxnLst/>
            <a:rect r="r" b="b" t="t" l="l"/>
            <a:pathLst>
              <a:path h="1600200" w="1600200">
                <a:moveTo>
                  <a:pt x="0" y="0"/>
                </a:moveTo>
                <a:lnTo>
                  <a:pt x="1600200" y="0"/>
                </a:lnTo>
                <a:lnTo>
                  <a:pt x="16002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65130" y="1963036"/>
            <a:ext cx="6961535" cy="6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Fr</a:t>
            </a: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ameworks &amp; Libraries: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055086" y="2767385"/>
            <a:ext cx="2598101" cy="1655018"/>
          </a:xfrm>
          <a:custGeom>
            <a:avLst/>
            <a:gdLst/>
            <a:ahLst/>
            <a:cxnLst/>
            <a:rect r="r" b="b" t="t" l="l"/>
            <a:pathLst>
              <a:path h="1655018" w="2598101">
                <a:moveTo>
                  <a:pt x="0" y="0"/>
                </a:moveTo>
                <a:lnTo>
                  <a:pt x="2598102" y="0"/>
                </a:lnTo>
                <a:lnTo>
                  <a:pt x="2598102" y="1655019"/>
                </a:lnTo>
                <a:lnTo>
                  <a:pt x="0" y="1655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63849" y="3217223"/>
            <a:ext cx="2360301" cy="684884"/>
          </a:xfrm>
          <a:custGeom>
            <a:avLst/>
            <a:gdLst/>
            <a:ahLst/>
            <a:cxnLst/>
            <a:rect r="r" b="b" t="t" l="l"/>
            <a:pathLst>
              <a:path h="684884" w="2360301">
                <a:moveTo>
                  <a:pt x="0" y="0"/>
                </a:moveTo>
                <a:lnTo>
                  <a:pt x="2360302" y="0"/>
                </a:lnTo>
                <a:lnTo>
                  <a:pt x="2360302" y="684884"/>
                </a:lnTo>
                <a:lnTo>
                  <a:pt x="0" y="684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30635" y="2913676"/>
            <a:ext cx="2396030" cy="1291977"/>
          </a:xfrm>
          <a:custGeom>
            <a:avLst/>
            <a:gdLst/>
            <a:ahLst/>
            <a:cxnLst/>
            <a:rect r="r" b="b" t="t" l="l"/>
            <a:pathLst>
              <a:path h="1291977" w="2396030">
                <a:moveTo>
                  <a:pt x="0" y="0"/>
                </a:moveTo>
                <a:lnTo>
                  <a:pt x="2396031" y="0"/>
                </a:lnTo>
                <a:lnTo>
                  <a:pt x="2396031" y="1291977"/>
                </a:lnTo>
                <a:lnTo>
                  <a:pt x="0" y="1291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26691" y="2850934"/>
            <a:ext cx="1417462" cy="1417462"/>
          </a:xfrm>
          <a:custGeom>
            <a:avLst/>
            <a:gdLst/>
            <a:ahLst/>
            <a:cxnLst/>
            <a:rect r="r" b="b" t="t" l="l"/>
            <a:pathLst>
              <a:path h="1417462" w="1417462">
                <a:moveTo>
                  <a:pt x="0" y="0"/>
                </a:moveTo>
                <a:lnTo>
                  <a:pt x="1417461" y="0"/>
                </a:lnTo>
                <a:lnTo>
                  <a:pt x="1417461" y="1417462"/>
                </a:lnTo>
                <a:lnTo>
                  <a:pt x="0" y="14174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44177" y="2732156"/>
            <a:ext cx="1655018" cy="1655018"/>
          </a:xfrm>
          <a:custGeom>
            <a:avLst/>
            <a:gdLst/>
            <a:ahLst/>
            <a:cxnLst/>
            <a:rect r="r" b="b" t="t" l="l"/>
            <a:pathLst>
              <a:path h="1655018" w="1655018">
                <a:moveTo>
                  <a:pt x="0" y="0"/>
                </a:moveTo>
                <a:lnTo>
                  <a:pt x="1655018" y="0"/>
                </a:lnTo>
                <a:lnTo>
                  <a:pt x="1655018" y="1655018"/>
                </a:lnTo>
                <a:lnTo>
                  <a:pt x="0" y="16550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99220" y="2767385"/>
            <a:ext cx="1438268" cy="1438268"/>
          </a:xfrm>
          <a:custGeom>
            <a:avLst/>
            <a:gdLst/>
            <a:ahLst/>
            <a:cxnLst/>
            <a:rect r="r" b="b" t="t" l="l"/>
            <a:pathLst>
              <a:path h="1438268" w="1438268">
                <a:moveTo>
                  <a:pt x="0" y="0"/>
                </a:moveTo>
                <a:lnTo>
                  <a:pt x="1438268" y="0"/>
                </a:lnTo>
                <a:lnTo>
                  <a:pt x="1438268" y="1438268"/>
                </a:lnTo>
                <a:lnTo>
                  <a:pt x="0" y="1438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5136019"/>
            <a:ext cx="4179189" cy="6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</a:t>
            </a: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els Used: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268" y="5853333"/>
            <a:ext cx="5242430" cy="18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XGBoost</a:t>
            </a:r>
          </a:p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CNN</a:t>
            </a:r>
          </a:p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Hybrid CNN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65130" y="5029200"/>
            <a:ext cx="5078855" cy="6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Too</a:t>
            </a: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ls &amp; Platforms: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71130" y="5747165"/>
            <a:ext cx="5242430" cy="1263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Kaggle</a:t>
            </a:r>
          </a:p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VS Code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28650" y="5029200"/>
            <a:ext cx="6308838" cy="6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</a:t>
            </a:r>
            <a:r>
              <a:rPr lang="en-US" b="true" sz="3493" spc="8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 &amp; Data Handling: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61854" y="5747165"/>
            <a:ext cx="5197446" cy="374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Joblib – Save/load ML models</a:t>
            </a:r>
          </a:p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Pickle – Serialize objects</a:t>
            </a:r>
          </a:p>
          <a:p>
            <a:pPr algn="l" marL="754143" indent="-377072" lvl="1">
              <a:lnSpc>
                <a:spcPts val="4890"/>
              </a:lnSpc>
              <a:buAutoNum type="arabicPeriod" startAt="1"/>
            </a:pPr>
            <a:r>
              <a:rPr lang="en-US" sz="3493" spc="8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Label Encoder / Scaler files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201588" y="7649755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410460">
            <a:off x="1935723" y="-5126712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406192" y="5766612"/>
            <a:ext cx="5473709" cy="2431846"/>
            <a:chOff x="0" y="0"/>
            <a:chExt cx="1441635" cy="640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7164" y="5766612"/>
            <a:ext cx="5473709" cy="2431846"/>
            <a:chOff x="0" y="0"/>
            <a:chExt cx="1441635" cy="6404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37126" y="5766612"/>
            <a:ext cx="5473709" cy="2431846"/>
            <a:chOff x="0" y="0"/>
            <a:chExt cx="1441635" cy="640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750874" y="2126642"/>
            <a:ext cx="6948594" cy="71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4956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SETS USED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9225171" y="2839962"/>
            <a:ext cx="0" cy="2543979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41107" y="6450722"/>
            <a:ext cx="4168127" cy="9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OFFICIAL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4976" y="6450722"/>
            <a:ext cx="4168127" cy="9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FLATFIELD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70551" y="6450722"/>
            <a:ext cx="4168127" cy="9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WIKIPEDIA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2699468" y="2464252"/>
            <a:ext cx="2574513" cy="291969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>
            <a:off x="3719214" y="2464252"/>
            <a:ext cx="2031659" cy="307376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9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410460">
            <a:off x="11271101" y="-4775284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49177">
            <a:off x="-2487437" y="759590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648" y="377214"/>
            <a:ext cx="17851352" cy="11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EXPLORATORY DATA ANALYSIS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80801"/>
            <a:ext cx="16943354" cy="389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3293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32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ataset Understanding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Multi-class scanner image dataset covering Canon, Epson, and HP devices.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Images captured under controlled settings and standardized to grayscale, 256×256 resolution.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Dataset is fairly balanced across scanner classes, enabling unbiased model evaluation.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74710"/>
            <a:ext cx="16943354" cy="259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3293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Ini</a:t>
            </a:r>
            <a:r>
              <a:rPr lang="en-US" b="true" sz="32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tial Observations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Vis</a:t>
            </a: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ual differences between scanner outputs are extremely subtle.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Noise patterns and acquisition artifacts are not easily detectable by the human eye.</a:t>
            </a:r>
          </a:p>
          <a:p>
            <a:pPr algn="l" marL="711022" indent="-355511" lvl="1">
              <a:lnSpc>
                <a:spcPts val="5104"/>
              </a:lnSpc>
              <a:buFont typeface="Arial"/>
              <a:buChar char="•"/>
            </a:pPr>
            <a:r>
              <a:rPr lang="en-US" sz="32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Highlights the need for advanced feature extraction and learning-based models.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10460">
            <a:off x="-9399267" y="-1709717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8" y="0"/>
                </a:lnTo>
                <a:lnTo>
                  <a:pt x="11976398" y="7170869"/>
                </a:lnTo>
                <a:lnTo>
                  <a:pt x="0" y="717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19001">
            <a:off x="3656822" y="807512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07497" y="2211525"/>
            <a:ext cx="7731024" cy="7020021"/>
          </a:xfrm>
          <a:custGeom>
            <a:avLst/>
            <a:gdLst/>
            <a:ahLst/>
            <a:cxnLst/>
            <a:rect r="r" b="b" t="t" l="l"/>
            <a:pathLst>
              <a:path h="7020021" w="7731024">
                <a:moveTo>
                  <a:pt x="0" y="0"/>
                </a:moveTo>
                <a:lnTo>
                  <a:pt x="7731023" y="0"/>
                </a:lnTo>
                <a:lnTo>
                  <a:pt x="7731023" y="7020022"/>
                </a:lnTo>
                <a:lnTo>
                  <a:pt x="0" y="702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648" y="377214"/>
            <a:ext cx="17851352" cy="11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EXPLORATORY DATA 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6731" y="1385688"/>
            <a:ext cx="2834538" cy="79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4"/>
              </a:lnSpc>
            </a:pPr>
            <a:r>
              <a:rPr lang="en-US" b="true" sz="40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XGB</a:t>
            </a:r>
            <a:r>
              <a:rPr lang="en-US" b="true" sz="40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oost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48" y="2068650"/>
            <a:ext cx="9377886" cy="756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93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</a:t>
            </a:r>
            <a:r>
              <a:rPr lang="en-US" b="true" sz="29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Observations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</a:t>
            </a: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model often confuses scanner models from the same brand, such as Canon120 variants.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These features are not strong enough to clearly separate very similar scanner devices.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Many scanner classes share overlapping feature characteristics.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XGBoost performs reasonably well but struggles with fine-level scanner identification. This shows the limitation of traditional ML when features are very similar.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Hence, there is a need for deep learning-based feature extraction.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94843">
            <a:off x="13986682" y="1071203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9"/>
                </a:lnTo>
                <a:lnTo>
                  <a:pt x="0" y="717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5301">
            <a:off x="-5650291" y="656720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50511" y="1875717"/>
            <a:ext cx="4073321" cy="3698708"/>
          </a:xfrm>
          <a:custGeom>
            <a:avLst/>
            <a:gdLst/>
            <a:ahLst/>
            <a:cxnLst/>
            <a:rect r="r" b="b" t="t" l="l"/>
            <a:pathLst>
              <a:path h="3698708" w="4073321">
                <a:moveTo>
                  <a:pt x="0" y="0"/>
                </a:moveTo>
                <a:lnTo>
                  <a:pt x="4073320" y="0"/>
                </a:lnTo>
                <a:lnTo>
                  <a:pt x="4073320" y="3698709"/>
                </a:lnTo>
                <a:lnTo>
                  <a:pt x="0" y="3698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14157" y="6124804"/>
            <a:ext cx="4248197" cy="3698708"/>
          </a:xfrm>
          <a:custGeom>
            <a:avLst/>
            <a:gdLst/>
            <a:ahLst/>
            <a:cxnLst/>
            <a:rect r="r" b="b" t="t" l="l"/>
            <a:pathLst>
              <a:path h="3698708" w="4248197">
                <a:moveTo>
                  <a:pt x="0" y="0"/>
                </a:moveTo>
                <a:lnTo>
                  <a:pt x="4248196" y="0"/>
                </a:lnTo>
                <a:lnTo>
                  <a:pt x="4248196" y="3698708"/>
                </a:lnTo>
                <a:lnTo>
                  <a:pt x="0" y="3698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648" y="377214"/>
            <a:ext cx="17851352" cy="118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EXPLORATORY DATA ANALYSIS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96732" y="1385688"/>
            <a:ext cx="5294535" cy="79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4"/>
              </a:lnSpc>
            </a:pPr>
            <a:r>
              <a:rPr lang="en-US" b="true" sz="40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 v</a:t>
            </a:r>
            <a:r>
              <a:rPr lang="en-US" b="true" sz="409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 Hybrid CNN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48" y="2341493"/>
            <a:ext cx="10400223" cy="291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93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CNN</a:t>
            </a: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shows high accuracy with strong diagonal values, meaning most scanners are correctly identified.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Small confusion appears only between similar scanner models, while overall brand-level classification is robust.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6648" y="5431551"/>
            <a:ext cx="10400223" cy="465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93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Hybrid CNN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High</a:t>
            </a: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classification accuracy: Most samples lie on the diagonal, showing the Hybrid CNN correctly identifies scanners with strong consistency across classes.</a:t>
            </a:r>
          </a:p>
          <a:p>
            <a:pPr algn="l" marL="646254" indent="-323127" lvl="1">
              <a:lnSpc>
                <a:spcPts val="4639"/>
              </a:lnSpc>
              <a:buFont typeface="Arial"/>
              <a:buChar char="•"/>
            </a:pPr>
            <a:r>
              <a:rPr lang="en-US" sz="29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Reduced misclassification: Confusion between similar scanner models is lower than in the CNN, proving that combining deep and handcrafted features improves fine-grained recognition.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94843">
            <a:off x="13986682" y="1071203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9"/>
                </a:lnTo>
                <a:lnTo>
                  <a:pt x="0" y="717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5301">
            <a:off x="-5650291" y="656720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9703" y="281964"/>
            <a:ext cx="10018297" cy="9277961"/>
          </a:xfrm>
          <a:custGeom>
            <a:avLst/>
            <a:gdLst/>
            <a:ahLst/>
            <a:cxnLst/>
            <a:rect r="r" b="b" t="t" l="l"/>
            <a:pathLst>
              <a:path h="9277961" w="10018297">
                <a:moveTo>
                  <a:pt x="0" y="0"/>
                </a:moveTo>
                <a:lnTo>
                  <a:pt x="10018297" y="0"/>
                </a:lnTo>
                <a:lnTo>
                  <a:pt x="10018297" y="9277961"/>
                </a:lnTo>
                <a:lnTo>
                  <a:pt x="0" y="927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777" t="0" r="-4677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648" y="377214"/>
            <a:ext cx="17851352" cy="118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5475472"/>
            <a:ext cx="8269703" cy="4084453"/>
          </a:xfrm>
          <a:custGeom>
            <a:avLst/>
            <a:gdLst/>
            <a:ahLst/>
            <a:cxnLst/>
            <a:rect r="r" b="b" t="t" l="l"/>
            <a:pathLst>
              <a:path h="4084453" w="8269703">
                <a:moveTo>
                  <a:pt x="0" y="0"/>
                </a:moveTo>
                <a:lnTo>
                  <a:pt x="8269703" y="0"/>
                </a:lnTo>
                <a:lnTo>
                  <a:pt x="8269703" y="4084453"/>
                </a:lnTo>
                <a:lnTo>
                  <a:pt x="0" y="4084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344152"/>
            <a:ext cx="8269703" cy="3962382"/>
          </a:xfrm>
          <a:custGeom>
            <a:avLst/>
            <a:gdLst/>
            <a:ahLst/>
            <a:cxnLst/>
            <a:rect r="r" b="b" t="t" l="l"/>
            <a:pathLst>
              <a:path h="3962382" w="8269703">
                <a:moveTo>
                  <a:pt x="0" y="0"/>
                </a:moveTo>
                <a:lnTo>
                  <a:pt x="8269703" y="0"/>
                </a:lnTo>
                <a:lnTo>
                  <a:pt x="8269703" y="3962382"/>
                </a:lnTo>
                <a:lnTo>
                  <a:pt x="0" y="3962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71860">
            <a:off x="-133018" y="2203306"/>
            <a:ext cx="2369174" cy="5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LANDING</a:t>
            </a:r>
          </a:p>
        </p:txBody>
      </p:sp>
      <p:sp>
        <p:nvSpPr>
          <p:cNvPr name="TextBox 10" id="10"/>
          <p:cNvSpPr txBox="true"/>
          <p:nvPr/>
        </p:nvSpPr>
        <p:spPr>
          <a:xfrm rot="-571860">
            <a:off x="74262" y="6240402"/>
            <a:ext cx="2369174" cy="5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LOGIN</a:t>
            </a:r>
          </a:p>
        </p:txBody>
      </p:sp>
      <p:sp>
        <p:nvSpPr>
          <p:cNvPr name="TextBox 11" id="11"/>
          <p:cNvSpPr txBox="true"/>
          <p:nvPr/>
        </p:nvSpPr>
        <p:spPr>
          <a:xfrm rot="-571860">
            <a:off x="14512517" y="746781"/>
            <a:ext cx="2369174" cy="5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ABOUT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94843">
            <a:off x="13986682" y="1071203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9"/>
                </a:lnTo>
                <a:lnTo>
                  <a:pt x="0" y="717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14350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4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5272755"/>
          </a:xfrm>
          <a:custGeom>
            <a:avLst/>
            <a:gdLst/>
            <a:ahLst/>
            <a:cxnLst/>
            <a:rect r="r" b="b" t="t" l="l"/>
            <a:pathLst>
              <a:path h="5272755" w="9144000">
                <a:moveTo>
                  <a:pt x="0" y="0"/>
                </a:moveTo>
                <a:lnTo>
                  <a:pt x="9144000" y="0"/>
                </a:lnTo>
                <a:lnTo>
                  <a:pt x="9144000" y="5272755"/>
                </a:lnTo>
                <a:lnTo>
                  <a:pt x="0" y="527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566707"/>
            <a:ext cx="9144000" cy="6897446"/>
          </a:xfrm>
          <a:custGeom>
            <a:avLst/>
            <a:gdLst/>
            <a:ahLst/>
            <a:cxnLst/>
            <a:rect r="r" b="b" t="t" l="l"/>
            <a:pathLst>
              <a:path h="6897446" w="9144000">
                <a:moveTo>
                  <a:pt x="0" y="0"/>
                </a:moveTo>
                <a:lnTo>
                  <a:pt x="9144000" y="0"/>
                </a:lnTo>
                <a:lnTo>
                  <a:pt x="9144000" y="6897446"/>
                </a:lnTo>
                <a:lnTo>
                  <a:pt x="0" y="68974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648" y="377214"/>
            <a:ext cx="17851352" cy="118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UI </a:t>
            </a:r>
          </a:p>
        </p:txBody>
      </p:sp>
      <p:sp>
        <p:nvSpPr>
          <p:cNvPr name="TextBox 8" id="8"/>
          <p:cNvSpPr txBox="true"/>
          <p:nvPr/>
        </p:nvSpPr>
        <p:spPr>
          <a:xfrm rot="-571860">
            <a:off x="9668679" y="6516598"/>
            <a:ext cx="2369174" cy="5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UPLOAD</a:t>
            </a:r>
          </a:p>
        </p:txBody>
      </p:sp>
      <p:sp>
        <p:nvSpPr>
          <p:cNvPr name="TextBox 9" id="9"/>
          <p:cNvSpPr txBox="true"/>
          <p:nvPr/>
        </p:nvSpPr>
        <p:spPr>
          <a:xfrm rot="-571860">
            <a:off x="37587" y="2661261"/>
            <a:ext cx="2369174" cy="98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MODEL SELECTION</a:t>
            </a:r>
          </a:p>
        </p:txBody>
      </p:sp>
      <p:sp>
        <p:nvSpPr>
          <p:cNvPr name="TextBox 10" id="10"/>
          <p:cNvSpPr txBox="true"/>
          <p:nvPr/>
        </p:nvSpPr>
        <p:spPr>
          <a:xfrm rot="-571860">
            <a:off x="13276537" y="464817"/>
            <a:ext cx="2369174" cy="54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5372" spc="-161">
                <a:solidFill>
                  <a:srgbClr val="F85001"/>
                </a:solidFill>
                <a:latin typeface="Handelson Two"/>
                <a:ea typeface="Handelson Two"/>
                <a:cs typeface="Handelson Two"/>
                <a:sym typeface="Handelson Two"/>
              </a:rPr>
              <a:t>RESULT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94843">
            <a:off x="13986682" y="1071203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9"/>
                </a:lnTo>
                <a:lnTo>
                  <a:pt x="0" y="717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85301">
            <a:off x="-5650291" y="656720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648" y="377214"/>
            <a:ext cx="17851352" cy="118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4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DEPLOYMENT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62136" y="1842437"/>
            <a:ext cx="17521436" cy="870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Frontend–Backend Separation: </a:t>
            </a: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React frontend deployed independently from the ML backend t</a:t>
            </a: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ensure scalability and maintainability.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API-Based Integration : Backend exposes REST APIs for image upload, preprocessing, and prediction, consumed by the React frontend.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 Serving Strategy : Trained models are serialized and loaded at startup to reduce inference latency.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Environment-Based Deployment : Separate configurations for development, testing, and production environments.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Cloud / Local Deployment : System can be deployed locally for demos or on cloud platforms for wider accessibility.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Scalability Strategy : Backend services can be horizontally scaled to handle multiple concurrent requests.</a:t>
            </a:r>
          </a:p>
          <a:p>
            <a:pPr algn="l" marL="712460" indent="-356230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spc="-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 Strategy : Input validation, file-type checks, and controlled API access to prevent misuse.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15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889384">
            <a:off x="13043358" y="7613702"/>
            <a:ext cx="10858165" cy="4567747"/>
          </a:xfrm>
          <a:custGeom>
            <a:avLst/>
            <a:gdLst/>
            <a:ahLst/>
            <a:cxnLst/>
            <a:rect r="r" b="b" t="t" l="l"/>
            <a:pathLst>
              <a:path h="4567747" w="10858165">
                <a:moveTo>
                  <a:pt x="10858165" y="0"/>
                </a:moveTo>
                <a:lnTo>
                  <a:pt x="0" y="0"/>
                </a:lnTo>
                <a:lnTo>
                  <a:pt x="0" y="4567747"/>
                </a:lnTo>
                <a:lnTo>
                  <a:pt x="10858165" y="4567747"/>
                </a:lnTo>
                <a:lnTo>
                  <a:pt x="10858165" y="0"/>
                </a:lnTo>
                <a:close/>
              </a:path>
            </a:pathLst>
          </a:custGeom>
          <a:blipFill>
            <a:blip r:embed="rId2"/>
            <a:stretch>
              <a:fillRect l="0" t="0" r="0" b="-73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943424">
            <a:off x="-5053174" y="6974427"/>
            <a:ext cx="10858165" cy="4567747"/>
          </a:xfrm>
          <a:custGeom>
            <a:avLst/>
            <a:gdLst/>
            <a:ahLst/>
            <a:cxnLst/>
            <a:rect r="r" b="b" t="t" l="l"/>
            <a:pathLst>
              <a:path h="4567747" w="10858165">
                <a:moveTo>
                  <a:pt x="10858165" y="0"/>
                </a:moveTo>
                <a:lnTo>
                  <a:pt x="0" y="0"/>
                </a:lnTo>
                <a:lnTo>
                  <a:pt x="0" y="4567746"/>
                </a:lnTo>
                <a:lnTo>
                  <a:pt x="10858165" y="4567746"/>
                </a:lnTo>
                <a:lnTo>
                  <a:pt x="10858165" y="0"/>
                </a:lnTo>
                <a:close/>
              </a:path>
            </a:pathLst>
          </a:custGeom>
          <a:blipFill>
            <a:blip r:embed="rId2"/>
            <a:stretch>
              <a:fillRect l="0" t="0" r="0" b="-7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446894">
            <a:off x="12667580" y="-5529421"/>
            <a:ext cx="10939223" cy="8081351"/>
          </a:xfrm>
          <a:custGeom>
            <a:avLst/>
            <a:gdLst/>
            <a:ahLst/>
            <a:cxnLst/>
            <a:rect r="r" b="b" t="t" l="l"/>
            <a:pathLst>
              <a:path h="8081351" w="10939223">
                <a:moveTo>
                  <a:pt x="0" y="0"/>
                </a:moveTo>
                <a:lnTo>
                  <a:pt x="10939223" y="0"/>
                </a:lnTo>
                <a:lnTo>
                  <a:pt x="10939223" y="8081351"/>
                </a:lnTo>
                <a:lnTo>
                  <a:pt x="0" y="808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8419" y="643572"/>
            <a:ext cx="13295131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FACED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125" y="2163732"/>
            <a:ext cx="15131594" cy="603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0559" indent="-420280" lvl="1">
              <a:lnSpc>
                <a:spcPts val="9733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Scanner noise patterns are very subtle and hard to extract.</a:t>
            </a:r>
          </a:p>
          <a:p>
            <a:pPr algn="l" marL="840559" indent="-420280" lvl="1">
              <a:lnSpc>
                <a:spcPts val="9733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Images came from different sources with varying quality.</a:t>
            </a:r>
          </a:p>
          <a:p>
            <a:pPr algn="l" marL="840559" indent="-420280" lvl="1">
              <a:lnSpc>
                <a:spcPts val="9733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Some scanner classes had fewer training images.</a:t>
            </a:r>
          </a:p>
          <a:p>
            <a:pPr algn="l" marL="840559" indent="-420280" lvl="1">
              <a:lnSpc>
                <a:spcPts val="9733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Designing effective handcrafted features was challenging.</a:t>
            </a:r>
          </a:p>
          <a:p>
            <a:pPr algn="l" marL="840559" indent="-420280" lvl="1">
              <a:lnSpc>
                <a:spcPts val="9733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Integrating models with backend and frontend smoothly.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269688">
            <a:off x="5419533" y="809048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362236">
            <a:off x="13391562" y="-1431588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8419" y="643572"/>
            <a:ext cx="9445915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419" y="2563131"/>
            <a:ext cx="13325194" cy="56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8912" indent="-419456" lvl="1">
              <a:lnSpc>
                <a:spcPts val="773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Add s</a:t>
            </a: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upport for more scanner and device models.</a:t>
            </a:r>
          </a:p>
          <a:p>
            <a:pPr algn="l" marL="838912" indent="-419456" lvl="1">
              <a:lnSpc>
                <a:spcPts val="773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Improve accuracy using larger and diverse datasets.</a:t>
            </a:r>
          </a:p>
          <a:p>
            <a:pPr algn="l" marL="838912" indent="-419456" lvl="1">
              <a:lnSpc>
                <a:spcPts val="773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Extend system to detect image forgery and tampering.</a:t>
            </a:r>
          </a:p>
          <a:p>
            <a:pPr algn="l" marL="838912" indent="-419456" lvl="1">
              <a:lnSpc>
                <a:spcPts val="773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Add explainable AI to visualize model decisions.</a:t>
            </a:r>
          </a:p>
          <a:p>
            <a:pPr algn="l" marL="838912" indent="-419456" lvl="1">
              <a:lnSpc>
                <a:spcPts val="773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Depl</a:t>
            </a:r>
            <a:r>
              <a:rPr lang="en-US" sz="38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oy as a real-time forensic investigation tool.</a:t>
            </a:r>
          </a:p>
          <a:p>
            <a:pPr algn="l">
              <a:lnSpc>
                <a:spcPts val="543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58567">
            <a:off x="10899557" y="-2048730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25778">
            <a:off x="9642048" y="7442125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419" y="643572"/>
            <a:ext cx="9445915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46832" y="3458210"/>
            <a:ext cx="7606006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98419" y="1988862"/>
            <a:ext cx="15721849" cy="693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559" indent="-416780" lvl="1">
              <a:lnSpc>
                <a:spcPts val="9652"/>
              </a:lnSpc>
              <a:buFont typeface="Arial"/>
              <a:buChar char="•"/>
            </a:pPr>
            <a:r>
              <a:rPr lang="en-US" sz="38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Successfully built an AI-based scanner identification system.</a:t>
            </a:r>
          </a:p>
          <a:p>
            <a:pPr algn="l" marL="833559" indent="-416780" lvl="1">
              <a:lnSpc>
                <a:spcPts val="9652"/>
              </a:lnSpc>
              <a:buFont typeface="Arial"/>
              <a:buChar char="•"/>
            </a:pPr>
            <a:r>
              <a:rPr lang="en-US" sz="38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Used residual noise for reliable scanner fingerprinting.</a:t>
            </a:r>
          </a:p>
          <a:p>
            <a:pPr algn="l" marL="833559" indent="-416780" lvl="1">
              <a:lnSpc>
                <a:spcPts val="9652"/>
              </a:lnSpc>
              <a:buFont typeface="Arial"/>
              <a:buChar char="•"/>
            </a:pPr>
            <a:r>
              <a:rPr lang="en-US" sz="38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CNN achieved the best performance among all models.</a:t>
            </a:r>
          </a:p>
          <a:p>
            <a:pPr algn="l" marL="833559" indent="-416780" lvl="1">
              <a:lnSpc>
                <a:spcPts val="9652"/>
              </a:lnSpc>
              <a:buFont typeface="Arial"/>
              <a:buChar char="•"/>
            </a:pPr>
            <a:r>
              <a:rPr lang="en-US" sz="38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Hybrid model improved robustness using image + features.</a:t>
            </a:r>
          </a:p>
          <a:p>
            <a:pPr algn="l" marL="833559" indent="-416780" lvl="1">
              <a:lnSpc>
                <a:spcPts val="9652"/>
              </a:lnSpc>
              <a:buFont typeface="Arial"/>
              <a:buChar char="•"/>
            </a:pPr>
            <a:r>
              <a:rPr lang="en-US" sz="38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End-to-end system deployed with FastAPI and React.</a:t>
            </a:r>
          </a:p>
          <a:p>
            <a:pPr algn="l">
              <a:lnSpc>
                <a:spcPts val="540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5880" y="8688331"/>
            <a:ext cx="8431381" cy="1604664"/>
            <a:chOff x="0" y="0"/>
            <a:chExt cx="2220611" cy="422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611" cy="422628"/>
            </a:xfrm>
            <a:custGeom>
              <a:avLst/>
              <a:gdLst/>
              <a:ahLst/>
              <a:cxnLst/>
              <a:rect r="r" b="b" t="t" l="l"/>
              <a:pathLst>
                <a:path h="422628" w="2220611">
                  <a:moveTo>
                    <a:pt x="0" y="0"/>
                  </a:moveTo>
                  <a:lnTo>
                    <a:pt x="2220611" y="0"/>
                  </a:lnTo>
                  <a:lnTo>
                    <a:pt x="2220611" y="422628"/>
                  </a:lnTo>
                  <a:lnTo>
                    <a:pt x="0" y="42262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20611" cy="479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60705">
            <a:off x="1423346" y="-1948290"/>
            <a:ext cx="15441309" cy="6543255"/>
          </a:xfrm>
          <a:custGeom>
            <a:avLst/>
            <a:gdLst/>
            <a:ahLst/>
            <a:cxnLst/>
            <a:rect r="r" b="b" t="t" l="l"/>
            <a:pathLst>
              <a:path h="6543255" w="15441309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1043" y="4256705"/>
            <a:ext cx="9445915" cy="139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7"/>
              </a:lnSpc>
            </a:pPr>
            <a:r>
              <a:rPr lang="en-US" b="true" sz="1003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8567" y="9578975"/>
            <a:ext cx="4966006" cy="34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INFOSYS SPRINGBOARD 6.0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915" y="8932227"/>
            <a:ext cx="2975311" cy="4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MENTOR REVANTH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DAG7IgdY1Wg</dc:identifier>
  <dcterms:modified xsi:type="dcterms:W3CDTF">2011-08-01T06:04:30Z</dcterms:modified>
  <cp:revision>1</cp:revision>
  <dc:title>TraceFinder</dc:title>
</cp:coreProperties>
</file>